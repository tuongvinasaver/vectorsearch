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nva Sans" charset="1" panose="020B0503030501040103"/>
      <p:regular r:id="rId21"/>
    </p:embeddedFont>
    <p:embeddedFont>
      <p:font typeface="Poppins Bold" charset="1" panose="00000800000000000000"/>
      <p:regular r:id="rId22"/>
    </p:embeddedFont>
    <p:embeddedFont>
      <p:font typeface="Poppins" charset="1" panose="00000500000000000000"/>
      <p:regular r:id="rId23"/>
    </p:embeddedFont>
    <p:embeddedFont>
      <p:font typeface="Poppins Bold Italics" charset="1" panose="00000800000000000000"/>
      <p:regular r:id="rId24"/>
    </p:embeddedFont>
    <p:embeddedFont>
      <p:font typeface="Times New Roman Bold" charset="1" panose="02020803070505020304"/>
      <p:regular r:id="rId25"/>
    </p:embeddedFont>
    <p:embeddedFont>
      <p:font typeface="Times New Roman MT" charset="1" panose="02030502070405020303"/>
      <p:regular r:id="rId26"/>
    </p:embeddedFont>
    <p:embeddedFont>
      <p:font typeface="Times New Roman" charset="1" panose="020206030504050203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611945">
            <a:off x="14458950" y="4723039"/>
            <a:ext cx="7658100" cy="5426529"/>
            <a:chOff x="0" y="0"/>
            <a:chExt cx="2016948" cy="14292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6948" cy="1429209"/>
            </a:xfrm>
            <a:custGeom>
              <a:avLst/>
              <a:gdLst/>
              <a:ahLst/>
              <a:cxnLst/>
              <a:rect r="r" b="b" t="t" l="l"/>
              <a:pathLst>
                <a:path h="1429209" w="2016948">
                  <a:moveTo>
                    <a:pt x="51558" y="0"/>
                  </a:moveTo>
                  <a:lnTo>
                    <a:pt x="1965390" y="0"/>
                  </a:lnTo>
                  <a:cubicBezTo>
                    <a:pt x="1979064" y="0"/>
                    <a:pt x="1992178" y="5432"/>
                    <a:pt x="2001847" y="15101"/>
                  </a:cubicBezTo>
                  <a:cubicBezTo>
                    <a:pt x="2011516" y="24770"/>
                    <a:pt x="2016948" y="37884"/>
                    <a:pt x="2016948" y="51558"/>
                  </a:cubicBezTo>
                  <a:lnTo>
                    <a:pt x="2016948" y="1377651"/>
                  </a:lnTo>
                  <a:cubicBezTo>
                    <a:pt x="2016948" y="1391325"/>
                    <a:pt x="2011516" y="1404439"/>
                    <a:pt x="2001847" y="1414108"/>
                  </a:cubicBezTo>
                  <a:cubicBezTo>
                    <a:pt x="1992178" y="1423777"/>
                    <a:pt x="1979064" y="1429209"/>
                    <a:pt x="1965390" y="1429209"/>
                  </a:cubicBezTo>
                  <a:lnTo>
                    <a:pt x="51558" y="1429209"/>
                  </a:lnTo>
                  <a:cubicBezTo>
                    <a:pt x="37884" y="1429209"/>
                    <a:pt x="24770" y="1423777"/>
                    <a:pt x="15101" y="1414108"/>
                  </a:cubicBezTo>
                  <a:cubicBezTo>
                    <a:pt x="5432" y="1404439"/>
                    <a:pt x="0" y="1391325"/>
                    <a:pt x="0" y="1377651"/>
                  </a:cubicBezTo>
                  <a:lnTo>
                    <a:pt x="0" y="51558"/>
                  </a:lnTo>
                  <a:cubicBezTo>
                    <a:pt x="0" y="37884"/>
                    <a:pt x="5432" y="24770"/>
                    <a:pt x="15101" y="15101"/>
                  </a:cubicBezTo>
                  <a:cubicBezTo>
                    <a:pt x="24770" y="5432"/>
                    <a:pt x="37884" y="0"/>
                    <a:pt x="51558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2016948" cy="1762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11945">
            <a:off x="-614581" y="-1866767"/>
            <a:ext cx="3031341" cy="2798456"/>
            <a:chOff x="0" y="0"/>
            <a:chExt cx="798378" cy="7370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8378" cy="737042"/>
            </a:xfrm>
            <a:custGeom>
              <a:avLst/>
              <a:gdLst/>
              <a:ahLst/>
              <a:cxnLst/>
              <a:rect r="r" b="b" t="t" l="l"/>
              <a:pathLst>
                <a:path h="737042" w="798378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11945">
            <a:off x="12055325" y="9566947"/>
            <a:ext cx="3031341" cy="2798456"/>
            <a:chOff x="0" y="0"/>
            <a:chExt cx="798378" cy="7370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8378" cy="737042"/>
            </a:xfrm>
            <a:custGeom>
              <a:avLst/>
              <a:gdLst/>
              <a:ahLst/>
              <a:cxnLst/>
              <a:rect r="r" b="b" t="t" l="l"/>
              <a:pathLst>
                <a:path h="737042" w="798378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3011342" y="6140237"/>
            <a:ext cx="8918179" cy="19050"/>
          </a:xfrm>
          <a:prstGeom prst="line">
            <a:avLst/>
          </a:prstGeom>
          <a:ln cap="flat" w="476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-2611945">
            <a:off x="12744473" y="42362"/>
            <a:ext cx="8101900" cy="3702724"/>
            <a:chOff x="0" y="0"/>
            <a:chExt cx="2133834" cy="9752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834" cy="975203"/>
            </a:xfrm>
            <a:custGeom>
              <a:avLst/>
              <a:gdLst/>
              <a:ahLst/>
              <a:cxnLst/>
              <a:rect r="r" b="b" t="t" l="l"/>
              <a:pathLst>
                <a:path h="975203" w="2133834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963666" y="2631888"/>
            <a:ext cx="8544752" cy="1865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6"/>
              </a:lnSpc>
            </a:pPr>
            <a:r>
              <a:rPr lang="en-US" sz="109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VECTOR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11301" y="4314131"/>
            <a:ext cx="11037269" cy="171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26"/>
              </a:lnSpc>
            </a:pPr>
            <a:r>
              <a:rPr lang="en-US" b="true" sz="12047" spc="2457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11301" y="7697574"/>
            <a:ext cx="523287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134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tuong.bui@vinasaver.vn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63666" y="1486045"/>
            <a:ext cx="4758368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VinaSaver Co. Ltd</a:t>
            </a:r>
          </a:p>
        </p:txBody>
      </p:sp>
      <p:grpSp>
        <p:nvGrpSpPr>
          <p:cNvPr name="Group 19" id="19"/>
          <p:cNvGrpSpPr/>
          <p:nvPr/>
        </p:nvGrpSpPr>
        <p:grpSpPr>
          <a:xfrm rot="-2611945">
            <a:off x="10808920" y="-3972270"/>
            <a:ext cx="8101900" cy="3702724"/>
            <a:chOff x="0" y="0"/>
            <a:chExt cx="2133834" cy="9752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3834" cy="975203"/>
            </a:xfrm>
            <a:custGeom>
              <a:avLst/>
              <a:gdLst/>
              <a:ahLst/>
              <a:cxnLst/>
              <a:rect r="r" b="b" t="t" l="l"/>
              <a:pathLst>
                <a:path h="975203" w="2133834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2611945">
            <a:off x="-6128725" y="8307085"/>
            <a:ext cx="8101900" cy="3702724"/>
            <a:chOff x="0" y="0"/>
            <a:chExt cx="2133834" cy="9752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33834" cy="975203"/>
            </a:xfrm>
            <a:custGeom>
              <a:avLst/>
              <a:gdLst/>
              <a:ahLst/>
              <a:cxnLst/>
              <a:rect r="r" b="b" t="t" l="l"/>
              <a:pathLst>
                <a:path h="975203" w="2133834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15971842" y="1684952"/>
            <a:ext cx="12583451" cy="7382737"/>
            <a:chOff x="0" y="0"/>
            <a:chExt cx="3314160" cy="1944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503507">
            <a:off x="-10878133" y="751583"/>
            <a:ext cx="12583451" cy="7382737"/>
            <a:chOff x="0" y="0"/>
            <a:chExt cx="3314160" cy="1944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71077" y="639367"/>
            <a:ext cx="9945846" cy="178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5"/>
              </a:lnSpc>
            </a:pPr>
            <a:r>
              <a:rPr lang="en-US" b="true" sz="5061" spc="475">
                <a:solidFill>
                  <a:srgbClr val="8D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IS A VECTOR DATABASE 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480869"/>
            <a:ext cx="16053581" cy="6981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2"/>
              </a:lnSpc>
              <a:spcBef>
                <a:spcPct val="0"/>
              </a:spcBef>
            </a:pPr>
            <a:r>
              <a:rPr lang="en-US" sz="3008" spc="1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v</a:t>
            </a:r>
            <a:r>
              <a:rPr lang="en-US" sz="3008" spc="1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ector database is a specialized database system designed to store, manage, and query high-dimensional vectors (embeddings), which are numerical representations of unstructured data such as text, images, audio, or video.</a:t>
            </a:r>
          </a:p>
          <a:p>
            <a:pPr algn="l" marL="0" indent="0" lvl="0">
              <a:lnSpc>
                <a:spcPts val="4212"/>
              </a:lnSpc>
              <a:spcBef>
                <a:spcPct val="0"/>
              </a:spcBef>
            </a:pPr>
            <a:r>
              <a:rPr lang="en-US" sz="3008" spc="1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How it Works</a:t>
            </a:r>
          </a:p>
          <a:p>
            <a:pPr algn="l" marL="649627" indent="-324813" lvl="1">
              <a:lnSpc>
                <a:spcPts val="4212"/>
              </a:lnSpc>
              <a:spcBef>
                <a:spcPct val="0"/>
              </a:spcBef>
              <a:buFont typeface="Arial"/>
              <a:buChar char="•"/>
            </a:pPr>
            <a:r>
              <a:rPr lang="en-US" sz="3008" spc="1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Raw data (text, images, audio…) is transformed into vectors using AI models (embedding models).</a:t>
            </a:r>
          </a:p>
          <a:p>
            <a:pPr algn="l" marL="649627" indent="-324813" lvl="1">
              <a:lnSpc>
                <a:spcPts val="4212"/>
              </a:lnSpc>
              <a:spcBef>
                <a:spcPct val="0"/>
              </a:spcBef>
              <a:buFont typeface="Arial"/>
              <a:buChar char="•"/>
            </a:pPr>
            <a:r>
              <a:rPr lang="en-US" sz="3008" spc="1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Each vector represents a point in a high-dimensional space (hundreds to thousands of dimensions).</a:t>
            </a:r>
          </a:p>
          <a:p>
            <a:pPr algn="l" marL="649627" indent="-324813" lvl="1">
              <a:lnSpc>
                <a:spcPts val="4212"/>
              </a:lnSpc>
              <a:spcBef>
                <a:spcPct val="0"/>
              </a:spcBef>
              <a:buFont typeface="Arial"/>
              <a:buChar char="•"/>
            </a:pPr>
            <a:r>
              <a:rPr lang="en-US" sz="3008" spc="1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database enables:</a:t>
            </a:r>
          </a:p>
          <a:p>
            <a:pPr algn="l" marL="1299254" indent="-433085" lvl="2">
              <a:lnSpc>
                <a:spcPts val="4212"/>
              </a:lnSpc>
              <a:spcBef>
                <a:spcPct val="0"/>
              </a:spcBef>
              <a:buFont typeface="Arial"/>
              <a:buChar char="⚬"/>
            </a:pPr>
            <a:r>
              <a:rPr lang="en-US" sz="3008" spc="1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Similarity search (finding the most similar vectors)</a:t>
            </a:r>
          </a:p>
          <a:p>
            <a:pPr algn="l" marL="1299254" indent="-433085" lvl="2">
              <a:lnSpc>
                <a:spcPts val="4212"/>
              </a:lnSpc>
              <a:spcBef>
                <a:spcPct val="0"/>
              </a:spcBef>
              <a:buFont typeface="Arial"/>
              <a:buChar char="⚬"/>
            </a:pPr>
            <a:r>
              <a:rPr lang="en-US" sz="3008" spc="1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Approximate Nearest Neighbor (ANN) search for fast retrieval</a:t>
            </a:r>
          </a:p>
          <a:p>
            <a:pPr algn="l">
              <a:lnSpc>
                <a:spcPts val="421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2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15971842" y="1684952"/>
            <a:ext cx="12583451" cy="7382737"/>
            <a:chOff x="0" y="0"/>
            <a:chExt cx="3314160" cy="1944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503507">
            <a:off x="-10878133" y="751583"/>
            <a:ext cx="12583451" cy="7382737"/>
            <a:chOff x="0" y="0"/>
            <a:chExt cx="3314160" cy="1944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71077" y="639367"/>
            <a:ext cx="9945846" cy="178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5"/>
              </a:lnSpc>
            </a:pPr>
            <a:r>
              <a:rPr lang="en-US" b="true" sz="5061" spc="475">
                <a:solidFill>
                  <a:srgbClr val="8D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IS A VECTOR EMBEDDING?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259783"/>
            <a:ext cx="16081232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1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Vector Embedding is the process of mapping data (text, images, audio, etc.) into a high-dimensional numerical vector space where semantically similar items are positioned close to each other.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1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Each item → a dense vector representation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1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Distance (cosine, Euclidean, etc.) → similarity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15" u="none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Widely used in: semantic search, recommendation systems, clustering, NLP tasks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15971842" y="1684952"/>
            <a:ext cx="12583451" cy="7382737"/>
            <a:chOff x="0" y="0"/>
            <a:chExt cx="3314160" cy="1944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503507">
            <a:off x="-10878133" y="751583"/>
            <a:ext cx="12583451" cy="7382737"/>
            <a:chOff x="0" y="0"/>
            <a:chExt cx="3314160" cy="1944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71077" y="639367"/>
            <a:ext cx="9945846" cy="178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5"/>
              </a:lnSpc>
            </a:pPr>
            <a:r>
              <a:rPr lang="en-US" b="true" sz="5061" spc="475">
                <a:solidFill>
                  <a:srgbClr val="8D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YOU NEED VECTOR DATABASE?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10138"/>
            <a:ext cx="8386012" cy="387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1"/>
              </a:lnSpc>
              <a:spcBef>
                <a:spcPct val="0"/>
              </a:spcBef>
            </a:pPr>
            <a:r>
              <a:rPr lang="en-US" b="true" sz="273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Semantic Search (Search by Meaning)</a:t>
            </a:r>
          </a:p>
          <a:p>
            <a:pPr algn="l">
              <a:lnSpc>
                <a:spcPts val="3831"/>
              </a:lnSpc>
              <a:spcBef>
                <a:spcPct val="0"/>
              </a:spcBef>
            </a:pPr>
            <a:r>
              <a:rPr lang="en-US" sz="27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</a:p>
          <a:p>
            <a:pPr algn="l" marL="590893" indent="-295447" lvl="1">
              <a:lnSpc>
                <a:spcPts val="3831"/>
              </a:lnSpc>
              <a:buFont typeface="Arial"/>
              <a:buChar char="•"/>
            </a:pPr>
            <a:r>
              <a:rPr lang="en-US" sz="27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 search fails with natural language</a:t>
            </a:r>
          </a:p>
          <a:p>
            <a:pPr algn="l" marL="590893" indent="-295447" lvl="1">
              <a:lnSpc>
                <a:spcPts val="3831"/>
              </a:lnSpc>
              <a:buFont typeface="Arial"/>
              <a:buChar char="•"/>
            </a:pPr>
            <a:r>
              <a:rPr lang="en-US" sz="27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“camera for parking lot at night” ≠ exact keywords</a:t>
            </a:r>
          </a:p>
          <a:p>
            <a:pPr algn="l">
              <a:lnSpc>
                <a:spcPts val="3831"/>
              </a:lnSpc>
              <a:spcBef>
                <a:spcPct val="0"/>
              </a:spcBef>
            </a:pPr>
            <a:r>
              <a:rPr lang="en-US" sz="27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(Vector DB):</a:t>
            </a:r>
          </a:p>
          <a:p>
            <a:pPr algn="l" marL="590893" indent="-295447" lvl="1">
              <a:lnSpc>
                <a:spcPts val="3831"/>
              </a:lnSpc>
              <a:buFont typeface="Arial"/>
              <a:buChar char="•"/>
            </a:pPr>
            <a:r>
              <a:rPr lang="en-US" sz="27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text → embeddings</a:t>
            </a:r>
          </a:p>
          <a:p>
            <a:pPr algn="l" marL="590893" indent="-295447" lvl="1">
              <a:lnSpc>
                <a:spcPts val="3831"/>
              </a:lnSpc>
              <a:buFont typeface="Arial"/>
              <a:buChar char="•"/>
            </a:pPr>
            <a:r>
              <a:rPr lang="en-US" sz="27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by semantic similarity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00426" y="2710138"/>
            <a:ext cx="7658874" cy="4863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8"/>
              </a:lnSpc>
              <a:spcBef>
                <a:spcPct val="0"/>
              </a:spcBef>
            </a:pPr>
            <a:r>
              <a:rPr lang="en-US" b="true" sz="277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Image Similarity Search</a:t>
            </a:r>
          </a:p>
          <a:p>
            <a:pPr algn="l">
              <a:lnSpc>
                <a:spcPts val="3878"/>
              </a:lnSpc>
              <a:spcBef>
                <a:spcPct val="0"/>
              </a:spcBef>
            </a:pPr>
            <a:r>
              <a:rPr lang="en-US" sz="27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</a:p>
          <a:p>
            <a:pPr algn="l" marL="598172" indent="-299086" lvl="1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search images using keywords only</a:t>
            </a:r>
          </a:p>
          <a:p>
            <a:pPr algn="l" marL="598172" indent="-299086" lvl="1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may not know how to describe an image</a:t>
            </a:r>
          </a:p>
          <a:p>
            <a:pPr algn="just">
              <a:lnSpc>
                <a:spcPts val="3878"/>
              </a:lnSpc>
              <a:spcBef>
                <a:spcPct val="0"/>
              </a:spcBef>
            </a:pPr>
            <a:r>
              <a:rPr lang="en-US" sz="27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</a:p>
          <a:p>
            <a:pPr algn="l" marL="598172" indent="-299086" lvl="1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image → vector embedding</a:t>
            </a:r>
          </a:p>
          <a:p>
            <a:pPr algn="l" marL="598172" indent="-299086" lvl="1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similarity between images</a:t>
            </a:r>
          </a:p>
          <a:p>
            <a:pPr algn="l">
              <a:lnSpc>
                <a:spcPts val="3878"/>
              </a:lnSpc>
              <a:spcBef>
                <a:spcPct val="0"/>
              </a:spcBef>
            </a:pPr>
            <a:r>
              <a:rPr lang="en-US" sz="27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</a:t>
            </a:r>
          </a:p>
          <a:p>
            <a:pPr algn="l" marL="598172" indent="-299086" lvl="1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visually similar products</a:t>
            </a:r>
          </a:p>
          <a:p>
            <a:pPr algn="l" marL="598172" indent="-299086" lvl="1">
              <a:lnSpc>
                <a:spcPts val="3878"/>
              </a:lnSpc>
              <a:buFont typeface="Arial"/>
              <a:buChar char="•"/>
            </a:pPr>
            <a:r>
              <a:rPr lang="en-US" sz="27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with image, not text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15971842" y="1684952"/>
            <a:ext cx="12583451" cy="7382737"/>
            <a:chOff x="0" y="0"/>
            <a:chExt cx="3314160" cy="1944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503507">
            <a:off x="-10878133" y="751583"/>
            <a:ext cx="12583451" cy="7382737"/>
            <a:chOff x="0" y="0"/>
            <a:chExt cx="3314160" cy="1944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71077" y="639367"/>
            <a:ext cx="9945846" cy="178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5"/>
              </a:lnSpc>
            </a:pPr>
            <a:r>
              <a:rPr lang="en-US" b="true" sz="5061" spc="475">
                <a:solidFill>
                  <a:srgbClr val="8D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YOU NEED VECTOR DATABASE?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290011"/>
            <a:ext cx="7123807" cy="238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6"/>
              </a:lnSpc>
              <a:spcBef>
                <a:spcPct val="0"/>
              </a:spcBef>
            </a:pPr>
            <a:r>
              <a:rPr lang="en-US" b="true" sz="27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Problem: Limitations of LLMs</a:t>
            </a:r>
          </a:p>
          <a:p>
            <a:pPr algn="l" marL="588534" indent="-294267" lvl="1">
              <a:lnSpc>
                <a:spcPts val="3816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LLMs (e.g., OpenAIGPT)</a:t>
            </a:r>
          </a:p>
          <a:p>
            <a:pPr algn="l" marL="588534" indent="-294267" lvl="1">
              <a:lnSpc>
                <a:spcPts val="3816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store all knowledge</a:t>
            </a:r>
          </a:p>
          <a:p>
            <a:pPr algn="l" marL="588534" indent="-294267" lvl="1">
              <a:lnSpc>
                <a:spcPts val="3816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access real-time or private data</a:t>
            </a:r>
          </a:p>
          <a:p>
            <a:pPr algn="l" marL="588534" indent="-294267" lvl="1">
              <a:lnSpc>
                <a:spcPts val="3816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generate incorrect answers (hallucination)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85424" y="3156218"/>
            <a:ext cx="7397948" cy="476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Solution: Retrieval-Augmented Generation (RAG)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Concept: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 AI with external knowledge retrieval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works: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Query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Convert to embedding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Search in Vector Database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Retrieve relevant context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Send context to AI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Generate accurate answer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15971842" y="1684952"/>
            <a:ext cx="12583451" cy="7382737"/>
            <a:chOff x="0" y="0"/>
            <a:chExt cx="3314160" cy="1944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503507">
            <a:off x="-10878133" y="751583"/>
            <a:ext cx="12583451" cy="7382737"/>
            <a:chOff x="0" y="0"/>
            <a:chExt cx="3314160" cy="1944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71077" y="639367"/>
            <a:ext cx="9945846" cy="178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5"/>
              </a:lnSpc>
            </a:pPr>
            <a:r>
              <a:rPr lang="en-US" b="true" sz="5061" spc="475">
                <a:solidFill>
                  <a:srgbClr val="8D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ROLE OF VECTOR DATABASE - MCP SERVER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103979"/>
            <a:ext cx="9945846" cy="225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Role of Vector Database</a:t>
            </a:r>
          </a:p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embeddings of documents/data</a:t>
            </a:r>
          </a:p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Performs semantic similarity search</a:t>
            </a:r>
          </a:p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Returns the most relevant context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68718" y="3103979"/>
            <a:ext cx="7364313" cy="393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Role of MCP Server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Orchestrates the whole process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Connects AI ↔ Vector Database ↔ APIs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Handles</a:t>
            </a: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routing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transformation</a:t>
            </a:r>
          </a:p>
          <a:p>
            <a:pPr algn="l" marL="690876" indent="-345438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 execution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6615" y="174472"/>
            <a:ext cx="15083741" cy="9938056"/>
          </a:xfrm>
          <a:custGeom>
            <a:avLst/>
            <a:gdLst/>
            <a:ahLst/>
            <a:cxnLst/>
            <a:rect r="r" b="b" t="t" l="l"/>
            <a:pathLst>
              <a:path h="9938056" w="15083741">
                <a:moveTo>
                  <a:pt x="0" y="0"/>
                </a:moveTo>
                <a:lnTo>
                  <a:pt x="15083741" y="0"/>
                </a:lnTo>
                <a:lnTo>
                  <a:pt x="15083741" y="9938056"/>
                </a:lnTo>
                <a:lnTo>
                  <a:pt x="0" y="9938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2" r="0" b="-662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15971842" y="1684952"/>
            <a:ext cx="12583451" cy="7382737"/>
            <a:chOff x="0" y="0"/>
            <a:chExt cx="3314160" cy="1944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503507">
            <a:off x="-10878133" y="751583"/>
            <a:ext cx="12583451" cy="7382737"/>
            <a:chOff x="0" y="0"/>
            <a:chExt cx="3314160" cy="1944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71077" y="639367"/>
            <a:ext cx="9945846" cy="178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5"/>
              </a:lnSpc>
            </a:pPr>
            <a:r>
              <a:rPr lang="en-US" b="true" sz="5061" spc="475">
                <a:solidFill>
                  <a:srgbClr val="8D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FULL ARCHITECTURE 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358665"/>
            <a:ext cx="15837853" cy="7768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Query</a:t>
            </a:r>
          </a:p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User enters a question</a:t>
            </a:r>
          </a:p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(LLM)</a:t>
            </a:r>
          </a:p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Receives the request (insufficient data)</a:t>
            </a:r>
          </a:p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MCP Server</a:t>
            </a:r>
          </a:p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Orchestrates and decides to query the Vector DB</a:t>
            </a:r>
          </a:p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 Query</a:t>
            </a:r>
          </a:p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Converts the query into a vector</a:t>
            </a:r>
          </a:p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Database</a:t>
            </a:r>
          </a:p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Performs semantic similarity search</a:t>
            </a:r>
          </a:p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Context</a:t>
            </a:r>
          </a:p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Returns relevant data</a:t>
            </a:r>
          </a:p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Generate</a:t>
            </a:r>
          </a:p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Generates answer based on context</a:t>
            </a:r>
          </a:p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Response</a:t>
            </a:r>
          </a:p>
          <a:p>
            <a:pPr algn="just">
              <a:lnSpc>
                <a:spcPts val="3892"/>
              </a:lnSpc>
              <a:spcBef>
                <a:spcPct val="0"/>
              </a:spcBef>
            </a:pPr>
            <a:r>
              <a:rPr lang="en-US" sz="27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Returns result to the user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15971842" y="1684952"/>
            <a:ext cx="12583451" cy="7382737"/>
            <a:chOff x="0" y="0"/>
            <a:chExt cx="3314160" cy="1944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503507">
            <a:off x="-10878133" y="751583"/>
            <a:ext cx="12583451" cy="7382737"/>
            <a:chOff x="0" y="0"/>
            <a:chExt cx="3314160" cy="1944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71077" y="639367"/>
            <a:ext cx="9945846" cy="178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5"/>
              </a:lnSpc>
            </a:pPr>
            <a:r>
              <a:rPr lang="en-US" b="true" sz="5061" spc="475">
                <a:solidFill>
                  <a:srgbClr val="8D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TEXT → VECTOR (EMBEDDING PIPELINE)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4896" y="2861187"/>
            <a:ext cx="14065939" cy="471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Input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↓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Tokenization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↓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Preprocessing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↓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Encoding (BERT / Sentence Transformer)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↓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Representation (Embedding)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15971842" y="1684952"/>
            <a:ext cx="12583451" cy="7382737"/>
            <a:chOff x="0" y="0"/>
            <a:chExt cx="3314160" cy="1944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503507">
            <a:off x="-10878133" y="751583"/>
            <a:ext cx="12583451" cy="7382737"/>
            <a:chOff x="0" y="0"/>
            <a:chExt cx="3314160" cy="1944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71077" y="639367"/>
            <a:ext cx="9945846" cy="178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5"/>
              </a:lnSpc>
            </a:pPr>
            <a:r>
              <a:rPr lang="en-US" b="true" sz="5061" spc="475">
                <a:solidFill>
                  <a:srgbClr val="8D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TEXT → VECTOR (EMBEDDING PIPELINE)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50083" y="2689225"/>
            <a:ext cx="6693917" cy="495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Text Input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text or sentence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"How to learn AI?"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Tokenization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text into tokens (words or subwords)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"learning" → ["learn", "##ing"]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Text Preprocessing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Normalize input (lowercase, clean text)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Padding / truncation for fixed length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47776" y="2689225"/>
            <a:ext cx="7811524" cy="644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Model Encoding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tokens → IDs → vectors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through Transformer layers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contextual meaning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 Pooling (Important)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 token vectors into one vector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methods: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CLS token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pooling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 Vector Output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Dense vector (e.g., 384–1024 dimensions)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[0.12, -0.98, 0.33, ...]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15909026" y="1669248"/>
            <a:ext cx="12583451" cy="7382737"/>
            <a:chOff x="0" y="0"/>
            <a:chExt cx="3314160" cy="1944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3503507">
            <a:off x="-10878133" y="751583"/>
            <a:ext cx="12583451" cy="7382737"/>
            <a:chOff x="0" y="0"/>
            <a:chExt cx="3314160" cy="19444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621431" y="639367"/>
            <a:ext cx="11453447" cy="89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5"/>
              </a:lnSpc>
            </a:pPr>
            <a:r>
              <a:rPr lang="en-US" b="true" sz="5061" spc="475">
                <a:solidFill>
                  <a:srgbClr val="8D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TOP MODELS DO THIS BEST.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1061" y="2865759"/>
            <a:ext cx="16280873" cy="341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spcBef>
                <a:spcPct val="0"/>
              </a:spcBef>
              <a:buAutoNum type="arabicPeriod" startAt="1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BERT (Transformer – Token Level)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→ Tokenization → Token IDs → Embedding Matrix → Transformer → Token Vectors</a:t>
            </a:r>
          </a:p>
          <a:p>
            <a:pPr algn="l" marL="604518" indent="-302259" lvl="1">
              <a:lnSpc>
                <a:spcPts val="3919"/>
              </a:lnSpc>
              <a:spcBef>
                <a:spcPct val="0"/>
              </a:spcBef>
              <a:buAutoNum type="arabicPeriod" startAt="1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Sentence Transformer (Sentence Level)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→ Tokenization → Token IDs → Embedding Matrix → Transformer → Pooling → Sentence Vector</a:t>
            </a:r>
          </a:p>
          <a:p>
            <a:pPr algn="l" marL="604518" indent="-302259" lvl="1">
              <a:lnSpc>
                <a:spcPts val="3919"/>
              </a:lnSpc>
              <a:spcBef>
                <a:spcPct val="0"/>
              </a:spcBef>
              <a:buAutoNum type="arabicPeriod" startAt="1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CLIP (Multimodal)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→ BPE Tokenization → Token IDs → Embedding Matrix → Transformer → Text Vector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58228" y="133477"/>
            <a:ext cx="12959993" cy="895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0"/>
              </a:lnSpc>
            </a:pPr>
            <a:r>
              <a:rPr lang="en-US" b="true" sz="5028" spc="472">
                <a:solidFill>
                  <a:srgbClr val="8D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COMPARE WITH ELASTICSEARCH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06126" y="1328420"/>
            <a:ext cx="15853174" cy="792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8D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Elasticsearch (Keyword Search)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Searches based on exact keywords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performance, fast &amp; optimized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best with structured data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manual setup for synonyms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context understanding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uses: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Logs, filtering, traditional search</a:t>
            </a:r>
          </a:p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Vector Search (Semantic Search)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Searches based on meaning (semantics)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Understands natural language &amp; intent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handles synonyms &amp; similarity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context awareness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Slightly slower (depends on ANN indexing)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uses: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AI search, chatbots,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7413" y="3514535"/>
            <a:ext cx="13011657" cy="6317072"/>
          </a:xfrm>
          <a:custGeom>
            <a:avLst/>
            <a:gdLst/>
            <a:ahLst/>
            <a:cxnLst/>
            <a:rect r="r" b="b" t="t" l="l"/>
            <a:pathLst>
              <a:path h="6317072" w="13011657">
                <a:moveTo>
                  <a:pt x="0" y="0"/>
                </a:moveTo>
                <a:lnTo>
                  <a:pt x="13011657" y="0"/>
                </a:lnTo>
                <a:lnTo>
                  <a:pt x="13011657" y="6317072"/>
                </a:lnTo>
                <a:lnTo>
                  <a:pt x="0" y="6317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58228" y="133477"/>
            <a:ext cx="12959993" cy="895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0"/>
              </a:lnSpc>
            </a:pPr>
            <a:r>
              <a:rPr lang="en-US" b="true" sz="5028" spc="472">
                <a:solidFill>
                  <a:srgbClr val="8D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INSTALL CHROMADB FOR PYTHON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7413" y="1987995"/>
            <a:ext cx="15853174" cy="297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</a:t>
            </a: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nstallation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 install chromadb</a:t>
            </a:r>
          </a:p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Basic Usage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58228" y="133477"/>
            <a:ext cx="12959993" cy="895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0"/>
              </a:lnSpc>
            </a:pPr>
            <a:r>
              <a:rPr lang="en-US" b="true" sz="5028" spc="472">
                <a:solidFill>
                  <a:srgbClr val="8D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IS A CHROMA DB 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7413" y="1987995"/>
            <a:ext cx="15853174" cy="594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8D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99" b="true">
                <a:solidFill>
                  <a:srgbClr val="8D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7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</a:t>
            </a: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 is Ch</a:t>
            </a: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roma DB?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Open-source vector database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embeddings (vectors)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semantic search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Commonly used in RAG systems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Key Featur</a:t>
            </a: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use (Python-first)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Built-in embedding support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similarity search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locally (no server needed)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57323" y="4615811"/>
            <a:ext cx="8373354" cy="1122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7800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-3503507">
            <a:off x="-2356457" y="6564794"/>
            <a:ext cx="5968439" cy="2484763"/>
            <a:chOff x="0" y="0"/>
            <a:chExt cx="1571935" cy="6544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1935" cy="654423"/>
            </a:xfrm>
            <a:custGeom>
              <a:avLst/>
              <a:gdLst/>
              <a:ahLst/>
              <a:cxnLst/>
              <a:rect r="r" b="b" t="t" l="l"/>
              <a:pathLst>
                <a:path h="654423" w="1571935">
                  <a:moveTo>
                    <a:pt x="66154" y="0"/>
                  </a:moveTo>
                  <a:lnTo>
                    <a:pt x="1505780" y="0"/>
                  </a:lnTo>
                  <a:cubicBezTo>
                    <a:pt x="1523326" y="0"/>
                    <a:pt x="1540152" y="6970"/>
                    <a:pt x="1552558" y="19376"/>
                  </a:cubicBezTo>
                  <a:cubicBezTo>
                    <a:pt x="1564965" y="31782"/>
                    <a:pt x="1571935" y="48609"/>
                    <a:pt x="1571935" y="66154"/>
                  </a:cubicBezTo>
                  <a:lnTo>
                    <a:pt x="1571935" y="588269"/>
                  </a:lnTo>
                  <a:cubicBezTo>
                    <a:pt x="1571935" y="624805"/>
                    <a:pt x="1542316" y="654423"/>
                    <a:pt x="1505780" y="654423"/>
                  </a:cubicBezTo>
                  <a:lnTo>
                    <a:pt x="66154" y="654423"/>
                  </a:lnTo>
                  <a:cubicBezTo>
                    <a:pt x="29618" y="654423"/>
                    <a:pt x="0" y="624805"/>
                    <a:pt x="0" y="588269"/>
                  </a:cubicBezTo>
                  <a:lnTo>
                    <a:pt x="0" y="66154"/>
                  </a:lnTo>
                  <a:cubicBezTo>
                    <a:pt x="0" y="29618"/>
                    <a:pt x="29618" y="0"/>
                    <a:pt x="6615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33375"/>
              <a:ext cx="1571935" cy="987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503507">
            <a:off x="14958997" y="1874234"/>
            <a:ext cx="6145518" cy="2741564"/>
            <a:chOff x="0" y="0"/>
            <a:chExt cx="1618573" cy="7220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8573" cy="722058"/>
            </a:xfrm>
            <a:custGeom>
              <a:avLst/>
              <a:gdLst/>
              <a:ahLst/>
              <a:cxnLst/>
              <a:rect r="r" b="b" t="t" l="l"/>
              <a:pathLst>
                <a:path h="722058" w="1618573">
                  <a:moveTo>
                    <a:pt x="64248" y="0"/>
                  </a:moveTo>
                  <a:lnTo>
                    <a:pt x="1554325" y="0"/>
                  </a:lnTo>
                  <a:cubicBezTo>
                    <a:pt x="1571364" y="0"/>
                    <a:pt x="1587706" y="6769"/>
                    <a:pt x="1599755" y="18818"/>
                  </a:cubicBezTo>
                  <a:cubicBezTo>
                    <a:pt x="1611804" y="30867"/>
                    <a:pt x="1618573" y="47208"/>
                    <a:pt x="1618573" y="64248"/>
                  </a:cubicBezTo>
                  <a:lnTo>
                    <a:pt x="1618573" y="657810"/>
                  </a:lnTo>
                  <a:cubicBezTo>
                    <a:pt x="1618573" y="674850"/>
                    <a:pt x="1611804" y="691191"/>
                    <a:pt x="1599755" y="703240"/>
                  </a:cubicBezTo>
                  <a:cubicBezTo>
                    <a:pt x="1587706" y="715289"/>
                    <a:pt x="1571364" y="722058"/>
                    <a:pt x="1554325" y="722058"/>
                  </a:cubicBezTo>
                  <a:lnTo>
                    <a:pt x="64248" y="722058"/>
                  </a:lnTo>
                  <a:cubicBezTo>
                    <a:pt x="47208" y="722058"/>
                    <a:pt x="30867" y="715289"/>
                    <a:pt x="18818" y="703240"/>
                  </a:cubicBezTo>
                  <a:cubicBezTo>
                    <a:pt x="6769" y="691191"/>
                    <a:pt x="0" y="674850"/>
                    <a:pt x="0" y="657810"/>
                  </a:cubicBezTo>
                  <a:lnTo>
                    <a:pt x="0" y="64248"/>
                  </a:lnTo>
                  <a:cubicBezTo>
                    <a:pt x="0" y="47208"/>
                    <a:pt x="6769" y="30867"/>
                    <a:pt x="18818" y="18818"/>
                  </a:cubicBezTo>
                  <a:cubicBezTo>
                    <a:pt x="30867" y="6769"/>
                    <a:pt x="47208" y="0"/>
                    <a:pt x="6424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1618573" cy="1055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DAHIGmd5W8I</dc:identifier>
  <dcterms:modified xsi:type="dcterms:W3CDTF">2011-08-01T06:04:30Z</dcterms:modified>
  <cp:revision>1</cp:revision>
  <dc:title>Red &amp; White Geometric Bold Simple Company Profile Presentation</dc:title>
</cp:coreProperties>
</file>